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58"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9B18FC-F6C2-4107-A784-D66DFCF34FE9}" type="datetimeFigureOut">
              <a:rPr lang="zh-CN" altLang="en-US" smtClean="0"/>
              <a:t>2025-03-19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6ADDB3-D61E-43A9-A4C9-C014BCC8384C}" type="slidenum">
              <a:rPr lang="zh-CN" altLang="en-US" smtClean="0"/>
              <a:t>‹#›</a:t>
            </a:fld>
            <a:endParaRPr lang="zh-CN" altLang="en-US"/>
          </a:p>
        </p:txBody>
      </p:sp>
    </p:spTree>
    <p:extLst>
      <p:ext uri="{BB962C8B-B14F-4D97-AF65-F5344CB8AC3E}">
        <p14:creationId xmlns:p14="http://schemas.microsoft.com/office/powerpoint/2010/main" val="9810174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lang="en-US" altLang="zh-CN" dirty="0"/>
              <a:t>(20”)</a:t>
            </a:r>
            <a:r>
              <a:rPr lang="zh-CN" altLang="en-US" dirty="0"/>
              <a:t>针对</a:t>
            </a:r>
            <a:r>
              <a:rPr lang="zh-CN" altLang="en-US" dirty="0">
                <a:latin typeface="Times New Roman" panose="02020603050405020304" pitchFamily="18" charset="0"/>
                <a:ea typeface="微软雅黑" panose="020B0503020204020204" pitchFamily="34" charset="-122"/>
                <a:cs typeface="Times New Roman" panose="02020603050405020304" pitchFamily="18" charset="0"/>
                <a:sym typeface="+mn-ea"/>
              </a:rPr>
              <a:t>引力波前景和波源附近环境干扰，可采用贝叶斯统计和模板匹配的方法分离由双白矮星产生的随机引力波前景，利用蒙特卡洛法模拟引力波源环境并采用贝叶斯统计法进行分离。</a:t>
            </a:r>
            <a:endParaRPr lang="en-US" altLang="zh-CN" dirty="0"/>
          </a:p>
        </p:txBody>
      </p:sp>
    </p:spTree>
    <p:extLst>
      <p:ext uri="{BB962C8B-B14F-4D97-AF65-F5344CB8AC3E}">
        <p14:creationId xmlns:p14="http://schemas.microsoft.com/office/powerpoint/2010/main" val="8988332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1072592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78972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261579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3848286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6797874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4217075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3861995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24590554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11358863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833884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4DC3A5B2-A8D2-43DE-9C79-8A84FB901509}" type="datetimeFigureOut">
              <a:rPr lang="zh-CN" altLang="en-US" smtClean="0"/>
              <a:t>2025-03-19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868173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C3A5B2-A8D2-43DE-9C79-8A84FB901509}" type="datetimeFigureOut">
              <a:rPr lang="zh-CN" altLang="en-US" smtClean="0"/>
              <a:t>2025-03-19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837B4A-A7DB-459C-A0B0-606FF121563A}" type="slidenum">
              <a:rPr lang="zh-CN" altLang="en-US" smtClean="0"/>
              <a:t>‹#›</a:t>
            </a:fld>
            <a:endParaRPr lang="zh-CN" altLang="en-US"/>
          </a:p>
        </p:txBody>
      </p:sp>
    </p:spTree>
    <p:extLst>
      <p:ext uri="{BB962C8B-B14F-4D97-AF65-F5344CB8AC3E}">
        <p14:creationId xmlns:p14="http://schemas.microsoft.com/office/powerpoint/2010/main" val="1072384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4" descr="lis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9138" y="649302"/>
            <a:ext cx="4201795" cy="314960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8"/>
          <p:cNvSpPr/>
          <p:nvPr/>
        </p:nvSpPr>
        <p:spPr>
          <a:xfrm>
            <a:off x="4822895" y="4111893"/>
            <a:ext cx="2494280" cy="491490"/>
          </a:xfrm>
          <a:prstGeom prst="rect">
            <a:avLst/>
          </a:prstGeom>
          <a:effectLst>
            <a:outerShdw blurRad="50800" dist="38100" algn="l" rotWithShape="0">
              <a:prstClr val="black">
                <a:alpha val="40000"/>
              </a:prstClr>
            </a:outerShdw>
          </a:effectLst>
        </p:spPr>
        <p:txBody>
          <a:bodyPr wrap="none">
            <a:spAutoFit/>
          </a:bodyPr>
          <a:lstStyle/>
          <a:p>
            <a:r>
              <a:rPr lang="zh-CN" altLang="en-US" sz="2600" b="1" dirty="0">
                <a:solidFill>
                  <a:srgbClr val="FF0000"/>
                </a:solidFill>
                <a:latin typeface="Calibri" panose="020F0502020204030204" pitchFamily="34" charset="0"/>
                <a:ea typeface="微软雅黑" panose="020B0503020204020204" pitchFamily="34" charset="-122"/>
              </a:rPr>
              <a:t>空间引力波探测</a:t>
            </a:r>
          </a:p>
        </p:txBody>
      </p:sp>
    </p:spTree>
    <p:extLst>
      <p:ext uri="{BB962C8B-B14F-4D97-AF65-F5344CB8AC3E}">
        <p14:creationId xmlns:p14="http://schemas.microsoft.com/office/powerpoint/2010/main" val="16278026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3402719" y="1315506"/>
            <a:ext cx="2160000" cy="720000"/>
          </a:xfrm>
          <a:prstGeom prst="rect">
            <a:avLst/>
          </a:prstGeom>
          <a:solidFill>
            <a:srgbClr val="AB85C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smtClean="0">
                <a:latin typeface="微软雅黑" panose="020B0503020204020204" pitchFamily="34" charset="-122"/>
                <a:ea typeface="微软雅黑" panose="020B0503020204020204" pitchFamily="34" charset="-122"/>
              </a:rPr>
              <a:t>数据生成软件架构</a:t>
            </a:r>
            <a:endParaRPr lang="zh-CN" altLang="en-US" sz="2000" b="1" dirty="0">
              <a:latin typeface="微软雅黑" panose="020B0503020204020204" pitchFamily="34" charset="-122"/>
              <a:ea typeface="微软雅黑" panose="020B0503020204020204" pitchFamily="34" charset="-122"/>
            </a:endParaRPr>
          </a:p>
        </p:txBody>
      </p:sp>
      <p:grpSp>
        <p:nvGrpSpPr>
          <p:cNvPr id="5" name="组合 4">
            <a:extLst>
              <a:ext uri="{FF2B5EF4-FFF2-40B4-BE49-F238E27FC236}">
                <a16:creationId xmlns:a16="http://schemas.microsoft.com/office/drawing/2014/main" xmlns="" id="{18521F08-F944-4042-A364-F4B046AD35DC}"/>
              </a:ext>
            </a:extLst>
          </p:cNvPr>
          <p:cNvGrpSpPr/>
          <p:nvPr/>
        </p:nvGrpSpPr>
        <p:grpSpPr>
          <a:xfrm>
            <a:off x="3174856" y="2181294"/>
            <a:ext cx="2615726" cy="3008787"/>
            <a:chOff x="369879" y="2047093"/>
            <a:chExt cx="2615726" cy="3008787"/>
          </a:xfrm>
        </p:grpSpPr>
        <p:sp>
          <p:nvSpPr>
            <p:cNvPr id="6" name="TextBox 31">
              <a:extLst>
                <a:ext uri="{FF2B5EF4-FFF2-40B4-BE49-F238E27FC236}">
                  <a16:creationId xmlns:a16="http://schemas.microsoft.com/office/drawing/2014/main" xmlns="" id="{703DFB0C-0C33-491E-A982-FE73BFF01161}"/>
                </a:ext>
              </a:extLst>
            </p:cNvPr>
            <p:cNvSpPr txBox="1"/>
            <p:nvPr/>
          </p:nvSpPr>
          <p:spPr>
            <a:xfrm rot="3806032">
              <a:off x="2217652" y="2733995"/>
              <a:ext cx="1235824" cy="300082"/>
            </a:xfrm>
            <a:prstGeom prst="rect">
              <a:avLst/>
            </a:prstGeom>
            <a:solidFill>
              <a:srgbClr val="3366FF"/>
            </a:solidFill>
          </p:spPr>
          <p:txBody>
            <a:bodyPr wrap="square" rtlCol="0">
              <a:spAutoFit/>
            </a:bodyPr>
            <a:lstStyle/>
            <a:p>
              <a:r>
                <a:rPr lang="zh-CN" altLang="en-US" sz="1350" b="1" dirty="0">
                  <a:solidFill>
                    <a:schemeClr val="lt1"/>
                  </a:solidFill>
                  <a:latin typeface="微软雅黑" panose="020B0503020204020204" pitchFamily="34" charset="-122"/>
                  <a:ea typeface="微软雅黑" panose="020B0503020204020204" pitchFamily="34" charset="-122"/>
                </a:rPr>
                <a:t>温度监测数据</a:t>
              </a:r>
              <a:endParaRPr lang="zh-CN" altLang="en-US" dirty="0"/>
            </a:p>
          </p:txBody>
        </p:sp>
        <p:grpSp>
          <p:nvGrpSpPr>
            <p:cNvPr id="7" name="组合 6">
              <a:extLst>
                <a:ext uri="{FF2B5EF4-FFF2-40B4-BE49-F238E27FC236}">
                  <a16:creationId xmlns:a16="http://schemas.microsoft.com/office/drawing/2014/main" xmlns="" id="{C1B571BC-9BAD-42CD-B679-D34C9CAE1E41}"/>
                </a:ext>
              </a:extLst>
            </p:cNvPr>
            <p:cNvGrpSpPr/>
            <p:nvPr/>
          </p:nvGrpSpPr>
          <p:grpSpPr>
            <a:xfrm>
              <a:off x="369879" y="2047093"/>
              <a:ext cx="2608423" cy="3008787"/>
              <a:chOff x="369879" y="2047093"/>
              <a:chExt cx="2608423" cy="3008787"/>
            </a:xfrm>
          </p:grpSpPr>
          <p:sp>
            <p:nvSpPr>
              <p:cNvPr id="8" name="Hexagon 2">
                <a:extLst>
                  <a:ext uri="{FF2B5EF4-FFF2-40B4-BE49-F238E27FC236}">
                    <a16:creationId xmlns:a16="http://schemas.microsoft.com/office/drawing/2014/main" xmlns="" id="{6E9CF1EA-4BCE-4998-A1F8-F041DFD0E655}"/>
                  </a:ext>
                </a:extLst>
              </p:cNvPr>
              <p:cNvSpPr/>
              <p:nvPr/>
            </p:nvSpPr>
            <p:spPr bwMode="auto">
              <a:xfrm>
                <a:off x="382556" y="2367673"/>
                <a:ext cx="2578330" cy="2356092"/>
              </a:xfrm>
              <a:prstGeom prst="hexagon">
                <a:avLst/>
              </a:prstGeom>
              <a:solidFill>
                <a:schemeClr val="accent1">
                  <a:lumMod val="90000"/>
                  <a:alpha val="80000"/>
                </a:schemeClr>
              </a:solidFill>
              <a:ln w="9525" cap="flat" cmpd="sng" algn="ctr">
                <a:noFill/>
                <a:prstDash val="solid"/>
                <a:round/>
                <a:headEnd type="none" w="med" len="med"/>
                <a:tailEnd type="none" w="med" len="med"/>
              </a:ln>
              <a:effectLst>
                <a:outerShdw dist="17961" dir="2700000" algn="ctr" rotWithShape="0">
                  <a:srgbClr val="00CCFF">
                    <a:gamma/>
                    <a:shade val="60000"/>
                    <a:invGamma/>
                  </a:srgbClr>
                </a:outerShdw>
              </a:effectLst>
            </p:spPr>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lang="zh-CN" altLang="en-US" sz="2000" b="1" dirty="0">
                  <a:solidFill>
                    <a:schemeClr val="bg2">
                      <a:lumMod val="75000"/>
                    </a:schemeClr>
                  </a:solidFill>
                  <a:latin typeface="微软雅黑" panose="020B0503020204020204" pitchFamily="34" charset="-122"/>
                  <a:ea typeface="微软雅黑" panose="020B0503020204020204" pitchFamily="34" charset="-122"/>
                  <a:sym typeface="Tw Cen MT" panose="020B0602020104020603" pitchFamily="34" charset="0"/>
                </a:endParaRPr>
              </a:p>
            </p:txBody>
          </p:sp>
          <p:sp>
            <p:nvSpPr>
              <p:cNvPr id="9" name="TextBox 29">
                <a:extLst>
                  <a:ext uri="{FF2B5EF4-FFF2-40B4-BE49-F238E27FC236}">
                    <a16:creationId xmlns:a16="http://schemas.microsoft.com/office/drawing/2014/main" xmlns="" id="{4E4953B0-E91F-412E-B540-0D97C25CE81E}"/>
                  </a:ext>
                </a:extLst>
              </p:cNvPr>
              <p:cNvSpPr txBox="1"/>
              <p:nvPr/>
            </p:nvSpPr>
            <p:spPr>
              <a:xfrm>
                <a:off x="1053692" y="4755798"/>
                <a:ext cx="1270003" cy="300082"/>
              </a:xfrm>
              <a:prstGeom prst="rect">
                <a:avLst/>
              </a:prstGeom>
              <a:solidFill>
                <a:srgbClr val="3366FF"/>
              </a:solidFill>
            </p:spPr>
            <p:txBody>
              <a:bodyPr wrap="square" rtlCol="0">
                <a:spAutoFit/>
              </a:bodyPr>
              <a:lstStyle/>
              <a:p>
                <a:r>
                  <a:rPr lang="zh-CN" altLang="en-US" sz="1350" b="1" dirty="0">
                    <a:solidFill>
                      <a:schemeClr val="lt1"/>
                    </a:solidFill>
                    <a:latin typeface="微软雅黑" panose="020B0503020204020204" pitchFamily="34" charset="-122"/>
                    <a:ea typeface="微软雅黑" panose="020B0503020204020204" pitchFamily="34" charset="-122"/>
                  </a:rPr>
                  <a:t>惯性传感数据</a:t>
                </a:r>
              </a:p>
            </p:txBody>
          </p:sp>
          <p:sp>
            <p:nvSpPr>
              <p:cNvPr id="10" name="TextBox 32">
                <a:extLst>
                  <a:ext uri="{FF2B5EF4-FFF2-40B4-BE49-F238E27FC236}">
                    <a16:creationId xmlns:a16="http://schemas.microsoft.com/office/drawing/2014/main" xmlns="" id="{37D85613-71C5-4AA7-8320-DA384CDD327F}"/>
                  </a:ext>
                </a:extLst>
              </p:cNvPr>
              <p:cNvSpPr txBox="1"/>
              <p:nvPr/>
            </p:nvSpPr>
            <p:spPr>
              <a:xfrm rot="17760000">
                <a:off x="2210349" y="4101309"/>
                <a:ext cx="1235824" cy="300082"/>
              </a:xfrm>
              <a:prstGeom prst="rect">
                <a:avLst/>
              </a:prstGeom>
              <a:solidFill>
                <a:srgbClr val="3366FF"/>
              </a:solidFill>
            </p:spPr>
            <p:txBody>
              <a:bodyPr wrap="square" rtlCol="0">
                <a:spAutoFit/>
              </a:bodyPr>
              <a:lstStyle/>
              <a:p>
                <a:r>
                  <a:rPr lang="zh-CN" altLang="en-US" sz="1350" b="1" dirty="0">
                    <a:solidFill>
                      <a:schemeClr val="lt1"/>
                    </a:solidFill>
                    <a:latin typeface="微软雅黑" panose="020B0503020204020204" pitchFamily="34" charset="-122"/>
                    <a:ea typeface="微软雅黑" panose="020B0503020204020204" pitchFamily="34" charset="-122"/>
                  </a:rPr>
                  <a:t>磁场监测数据</a:t>
                </a:r>
                <a:endParaRPr lang="zh-CN" altLang="en-US" dirty="0"/>
              </a:p>
            </p:txBody>
          </p:sp>
          <p:sp>
            <p:nvSpPr>
              <p:cNvPr id="11" name="AutoShape 2" descr="Deep Learning for Hidden Signals: Real-time Detection and Parameter  Estimation of Gravitational Waves with Convolutional Neural Networks – NCSA  Gravity Group">
                <a:extLst>
                  <a:ext uri="{FF2B5EF4-FFF2-40B4-BE49-F238E27FC236}">
                    <a16:creationId xmlns:a16="http://schemas.microsoft.com/office/drawing/2014/main" xmlns="" id="{17491BF8-2FC2-4706-A10C-71CC9B81DFDD}"/>
                  </a:ext>
                </a:extLst>
              </p:cNvPr>
              <p:cNvSpPr>
                <a:spLocks noChangeAspect="1" noChangeArrowheads="1"/>
              </p:cNvSpPr>
              <p:nvPr/>
            </p:nvSpPr>
            <p:spPr bwMode="auto">
              <a:xfrm>
                <a:off x="2354653" y="333765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12" name="Picture 37">
                <a:extLst>
                  <a:ext uri="{FF2B5EF4-FFF2-40B4-BE49-F238E27FC236}">
                    <a16:creationId xmlns:a16="http://schemas.microsoft.com/office/drawing/2014/main" xmlns="" id="{AF837E38-34B2-46FB-AA19-A775C8C376F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3039" y="2899807"/>
                <a:ext cx="1964260" cy="1244032"/>
              </a:xfrm>
              <a:prstGeom prst="rect">
                <a:avLst/>
              </a:prstGeom>
            </p:spPr>
          </p:pic>
          <p:sp>
            <p:nvSpPr>
              <p:cNvPr id="13" name="TextBox 23">
                <a:extLst>
                  <a:ext uri="{FF2B5EF4-FFF2-40B4-BE49-F238E27FC236}">
                    <a16:creationId xmlns:a16="http://schemas.microsoft.com/office/drawing/2014/main" xmlns="" id="{6F124554-EA72-4582-ACD0-F11DA5AA57E7}"/>
                  </a:ext>
                </a:extLst>
              </p:cNvPr>
              <p:cNvSpPr txBox="1"/>
              <p:nvPr/>
            </p:nvSpPr>
            <p:spPr>
              <a:xfrm>
                <a:off x="1053692" y="2047093"/>
                <a:ext cx="1235586" cy="300082"/>
              </a:xfrm>
              <a:prstGeom prst="rect">
                <a:avLst/>
              </a:prstGeom>
              <a:solidFill>
                <a:srgbClr val="3366FF"/>
              </a:solidFill>
            </p:spPr>
            <p:txBody>
              <a:bodyPr wrap="square" rtlCol="0">
                <a:spAutoFit/>
              </a:bodyPr>
              <a:lstStyle/>
              <a:p>
                <a:r>
                  <a:rPr lang="zh-CN" altLang="en-US" sz="1350" b="1" dirty="0">
                    <a:solidFill>
                      <a:schemeClr val="lt1"/>
                    </a:solidFill>
                    <a:latin typeface="微软雅黑" panose="020B0503020204020204" pitchFamily="34" charset="-122"/>
                    <a:ea typeface="微软雅黑" panose="020B0503020204020204" pitchFamily="34" charset="-122"/>
                  </a:rPr>
                  <a:t>激光干涉数据</a:t>
                </a:r>
              </a:p>
            </p:txBody>
          </p:sp>
          <p:sp>
            <p:nvSpPr>
              <p:cNvPr id="14" name="Rectangle 6">
                <a:extLst>
                  <a:ext uri="{FF2B5EF4-FFF2-40B4-BE49-F238E27FC236}">
                    <a16:creationId xmlns:a16="http://schemas.microsoft.com/office/drawing/2014/main" xmlns="" id="{AB22EFE6-7C8A-4ABB-8A17-CF6453EAB0ED}"/>
                  </a:ext>
                </a:extLst>
              </p:cNvPr>
              <p:cNvSpPr/>
              <p:nvPr/>
            </p:nvSpPr>
            <p:spPr>
              <a:xfrm rot="17843458">
                <a:off x="-87614" y="2718631"/>
                <a:ext cx="1223412" cy="300082"/>
              </a:xfrm>
              <a:prstGeom prst="rect">
                <a:avLst/>
              </a:prstGeom>
              <a:solidFill>
                <a:srgbClr val="3366FF"/>
              </a:solidFill>
            </p:spPr>
            <p:txBody>
              <a:bodyPr wrap="none">
                <a:spAutoFit/>
              </a:bodyPr>
              <a:lstStyle/>
              <a:p>
                <a:r>
                  <a:rPr lang="zh-CN" altLang="en-US" sz="1350" b="1" dirty="0">
                    <a:solidFill>
                      <a:schemeClr val="lt1"/>
                    </a:solidFill>
                    <a:latin typeface="微软雅黑" panose="020B0503020204020204" pitchFamily="34" charset="-122"/>
                    <a:ea typeface="微软雅黑" panose="020B0503020204020204" pitchFamily="34" charset="-122"/>
                  </a:rPr>
                  <a:t>星载时钟数据</a:t>
                </a:r>
              </a:p>
            </p:txBody>
          </p:sp>
          <p:sp>
            <p:nvSpPr>
              <p:cNvPr id="15" name="Rectangle 7">
                <a:extLst>
                  <a:ext uri="{FF2B5EF4-FFF2-40B4-BE49-F238E27FC236}">
                    <a16:creationId xmlns:a16="http://schemas.microsoft.com/office/drawing/2014/main" xmlns="" id="{101DBF9A-DB62-4DD1-B078-4169B3E92C87}"/>
                  </a:ext>
                </a:extLst>
              </p:cNvPr>
              <p:cNvSpPr/>
              <p:nvPr/>
            </p:nvSpPr>
            <p:spPr>
              <a:xfrm rot="3809644">
                <a:off x="-178348" y="4041116"/>
                <a:ext cx="1396536" cy="300082"/>
              </a:xfrm>
              <a:prstGeom prst="rect">
                <a:avLst/>
              </a:prstGeom>
              <a:solidFill>
                <a:srgbClr val="3366FF"/>
              </a:solidFill>
            </p:spPr>
            <p:txBody>
              <a:bodyPr wrap="none">
                <a:spAutoFit/>
              </a:bodyPr>
              <a:lstStyle/>
              <a:p>
                <a:pPr defTabSz="685800" eaLnBrk="1" hangingPunct="1"/>
                <a:r>
                  <a:rPr lang="zh-CN" altLang="en-US" sz="1350" b="1" dirty="0">
                    <a:solidFill>
                      <a:schemeClr val="lt1"/>
                    </a:solidFill>
                    <a:latin typeface="微软雅黑" panose="020B0503020204020204" pitchFamily="34" charset="-122"/>
                    <a:ea typeface="微软雅黑" panose="020B0503020204020204" pitchFamily="34" charset="-122"/>
                  </a:rPr>
                  <a:t>无拖曳控制数据</a:t>
                </a:r>
              </a:p>
            </p:txBody>
          </p:sp>
        </p:grpSp>
      </p:grpSp>
    </p:spTree>
    <p:extLst>
      <p:ext uri="{BB962C8B-B14F-4D97-AF65-F5344CB8AC3E}">
        <p14:creationId xmlns:p14="http://schemas.microsoft.com/office/powerpoint/2010/main" val="68591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2"/>
          <p:cNvSpPr>
            <a:spLocks noChangeArrowheads="1"/>
          </p:cNvSpPr>
          <p:nvPr/>
        </p:nvSpPr>
        <p:spPr bwMode="auto">
          <a:xfrm>
            <a:off x="1704001" y="972000"/>
            <a:ext cx="8924925"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defTabSz="909955">
              <a:lnSpc>
                <a:spcPct val="120000"/>
              </a:lnSpc>
              <a:buClr>
                <a:srgbClr val="000000"/>
              </a:buClr>
              <a:defRPr/>
            </a:pPr>
            <a:r>
              <a:rPr lang="zh-CN" altLang="en-US" sz="2200" b="1" dirty="0">
                <a:solidFill>
                  <a:srgbClr val="FF0000"/>
                </a:solidFill>
                <a:ea typeface="微软雅黑" panose="020B0503020204020204" pitchFamily="34" charset="-122"/>
              </a:rPr>
              <a:t>研究重点</a:t>
            </a:r>
            <a:r>
              <a:rPr lang="zh-CN" altLang="en-US" sz="22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如何扣除引力波前景和波源附近环境干扰？</a:t>
            </a:r>
            <a:endParaRPr lang="zh-CN" altLang="en-US" sz="2000" dirty="0">
              <a:latin typeface="微软雅黑" panose="020B0503020204020204" pitchFamily="34" charset="-122"/>
              <a:ea typeface="微软雅黑" panose="020B0503020204020204" pitchFamily="34" charset="-122"/>
              <a:sym typeface="+mn-ea"/>
            </a:endParaRPr>
          </a:p>
        </p:txBody>
      </p:sp>
      <p:sp>
        <p:nvSpPr>
          <p:cNvPr id="8" name="Rectangle 22"/>
          <p:cNvSpPr>
            <a:spLocks noChangeArrowheads="1"/>
          </p:cNvSpPr>
          <p:nvPr/>
        </p:nvSpPr>
        <p:spPr bwMode="auto">
          <a:xfrm>
            <a:off x="1695451" y="1389600"/>
            <a:ext cx="8979535" cy="930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defTabSz="909955" fontAlgn="base">
              <a:lnSpc>
                <a:spcPct val="130000"/>
              </a:lnSpc>
              <a:buClr>
                <a:srgbClr val="000000"/>
              </a:buClr>
              <a:defRPr/>
            </a:pPr>
            <a:r>
              <a:rPr lang="zh-CN" altLang="en-US" sz="2200" b="1" dirty="0">
                <a:solidFill>
                  <a:srgbClr val="FF0000"/>
                </a:solidFill>
                <a:ea typeface="微软雅黑" panose="020B0503020204020204" pitchFamily="34" charset="-122"/>
              </a:rPr>
              <a:t>研究方案：</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rPr>
              <a:t>采用</a:t>
            </a:r>
            <a:r>
              <a:rPr lang="zh-CN" altLang="en-US" sz="2000" dirty="0">
                <a:latin typeface="Times New Roman" panose="02020603050405020304" pitchFamily="18" charset="0"/>
                <a:ea typeface="微软雅黑" panose="020B0503020204020204" pitchFamily="34" charset="-122"/>
                <a:cs typeface="Times New Roman" panose="02020603050405020304" pitchFamily="18" charset="0"/>
                <a:sym typeface="+mn-ea"/>
              </a:rPr>
              <a:t>贝叶斯统计和模板匹配的方法分离由双白矮星产生的随机引力波前景，利用蒙特卡洛法模拟引力波源环境并采用贝叶斯统计法进行分离。</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Rectangle 5"/>
          <p:cNvSpPr/>
          <p:nvPr/>
        </p:nvSpPr>
        <p:spPr>
          <a:xfrm>
            <a:off x="1533528" y="2729684"/>
            <a:ext cx="4558872" cy="3507628"/>
          </a:xfrm>
          <a:prstGeom prst="rect">
            <a:avLst/>
          </a:prstGeom>
          <a:solidFill>
            <a:schemeClr val="accent6">
              <a:lumMod val="20000"/>
              <a:lumOff val="80000"/>
              <a:alpha val="40000"/>
            </a:scheme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sp>
        <p:nvSpPr>
          <p:cNvPr id="10" name="Rectangle 5"/>
          <p:cNvSpPr/>
          <p:nvPr/>
        </p:nvSpPr>
        <p:spPr>
          <a:xfrm>
            <a:off x="6098615" y="2925844"/>
            <a:ext cx="4558872" cy="3311469"/>
          </a:xfrm>
          <a:prstGeom prst="rect">
            <a:avLst/>
          </a:prstGeom>
          <a:solidFill>
            <a:srgbClr val="E9F6DC">
              <a:alpha val="48000"/>
            </a:srgbClr>
          </a:solidFill>
          <a:ln w="222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latin typeface="微软雅黑" panose="020B0503020204020204" pitchFamily="34" charset="-122"/>
              <a:ea typeface="微软雅黑" panose="020B0503020204020204" pitchFamily="34" charset="-122"/>
            </a:endParaRPr>
          </a:p>
        </p:txBody>
      </p:sp>
      <p:cxnSp>
        <p:nvCxnSpPr>
          <p:cNvPr id="12" name="Straight Connector 16"/>
          <p:cNvCxnSpPr>
            <a:stCxn id="74" idx="2"/>
          </p:cNvCxnSpPr>
          <p:nvPr/>
        </p:nvCxnSpPr>
        <p:spPr>
          <a:xfrm flipH="1" flipV="1">
            <a:off x="3143407" y="2977249"/>
            <a:ext cx="1158762" cy="1278377"/>
          </a:xfrm>
          <a:prstGeom prst="line">
            <a:avLst/>
          </a:prstGeom>
          <a:ln>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3" name="Straight Connector 17"/>
          <p:cNvCxnSpPr>
            <a:stCxn id="74" idx="5"/>
          </p:cNvCxnSpPr>
          <p:nvPr/>
        </p:nvCxnSpPr>
        <p:spPr>
          <a:xfrm flipH="1">
            <a:off x="3152416" y="5000777"/>
            <a:ext cx="1164401" cy="1226323"/>
          </a:xfrm>
          <a:prstGeom prst="line">
            <a:avLst/>
          </a:prstGeom>
          <a:ln>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4"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4679" t="24193" r="14523" b="17026"/>
          <a:stretch>
            <a:fillRect/>
          </a:stretch>
        </p:blipFill>
        <p:spPr>
          <a:xfrm rot="16200000">
            <a:off x="667796" y="3799046"/>
            <a:ext cx="3288626" cy="1584598"/>
          </a:xfrm>
          <a:prstGeom prst="rect">
            <a:avLst/>
          </a:prstGeom>
        </p:spPr>
      </p:pic>
      <p:sp>
        <p:nvSpPr>
          <p:cNvPr id="15" name="Rectangle 18"/>
          <p:cNvSpPr/>
          <p:nvPr/>
        </p:nvSpPr>
        <p:spPr>
          <a:xfrm>
            <a:off x="1526345" y="5587086"/>
            <a:ext cx="1612942" cy="923330"/>
          </a:xfrm>
          <a:prstGeom prst="rect">
            <a:avLst/>
          </a:prstGeom>
        </p:spPr>
        <p:txBody>
          <a:bodyPr wrap="square">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Markarian 231 (UGC 8058) </a:t>
            </a:r>
          </a:p>
        </p:txBody>
      </p:sp>
      <p:sp>
        <p:nvSpPr>
          <p:cNvPr id="16" name="TextBox 124"/>
          <p:cNvSpPr txBox="1"/>
          <p:nvPr/>
        </p:nvSpPr>
        <p:spPr>
          <a:xfrm>
            <a:off x="3919431" y="3859426"/>
            <a:ext cx="1031628"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引力波源</a:t>
            </a:r>
          </a:p>
        </p:txBody>
      </p:sp>
      <p:grpSp>
        <p:nvGrpSpPr>
          <p:cNvPr id="17" name="Group 71"/>
          <p:cNvGrpSpPr/>
          <p:nvPr/>
        </p:nvGrpSpPr>
        <p:grpSpPr>
          <a:xfrm rot="2897931">
            <a:off x="7330824" y="3976154"/>
            <a:ext cx="884588" cy="351676"/>
            <a:chOff x="123825" y="1279589"/>
            <a:chExt cx="3178838" cy="1194530"/>
          </a:xfrm>
        </p:grpSpPr>
        <p:sp>
          <p:nvSpPr>
            <p:cNvPr id="18" name="Oval 66"/>
            <p:cNvSpPr>
              <a:spLocks noChangeAspect="1"/>
            </p:cNvSpPr>
            <p:nvPr/>
          </p:nvSpPr>
          <p:spPr>
            <a:xfrm>
              <a:off x="1219199" y="1683974"/>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19" name="Oval 67"/>
            <p:cNvSpPr>
              <a:spLocks noChangeAspect="1"/>
            </p:cNvSpPr>
            <p:nvPr/>
          </p:nvSpPr>
          <p:spPr>
            <a:xfrm>
              <a:off x="1807367" y="1683973"/>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20" name="Arc 68"/>
            <p:cNvSpPr/>
            <p:nvPr/>
          </p:nvSpPr>
          <p:spPr>
            <a:xfrm>
              <a:off x="123825"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21" name="Arc 70"/>
            <p:cNvSpPr/>
            <p:nvPr/>
          </p:nvSpPr>
          <p:spPr>
            <a:xfrm rot="10800000">
              <a:off x="1242883"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grpSp>
      <p:grpSp>
        <p:nvGrpSpPr>
          <p:cNvPr id="22" name="Group 93"/>
          <p:cNvGrpSpPr/>
          <p:nvPr/>
        </p:nvGrpSpPr>
        <p:grpSpPr>
          <a:xfrm rot="19743271">
            <a:off x="6776711" y="3784149"/>
            <a:ext cx="884588" cy="351676"/>
            <a:chOff x="123825" y="1279589"/>
            <a:chExt cx="3178838" cy="1194530"/>
          </a:xfrm>
        </p:grpSpPr>
        <p:sp>
          <p:nvSpPr>
            <p:cNvPr id="23" name="Oval 94"/>
            <p:cNvSpPr>
              <a:spLocks noChangeAspect="1"/>
            </p:cNvSpPr>
            <p:nvPr/>
          </p:nvSpPr>
          <p:spPr>
            <a:xfrm>
              <a:off x="1219199" y="1683974"/>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24" name="Oval 95"/>
            <p:cNvSpPr>
              <a:spLocks noChangeAspect="1"/>
            </p:cNvSpPr>
            <p:nvPr/>
          </p:nvSpPr>
          <p:spPr>
            <a:xfrm>
              <a:off x="1807367" y="1683973"/>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25" name="Arc 96"/>
            <p:cNvSpPr/>
            <p:nvPr/>
          </p:nvSpPr>
          <p:spPr>
            <a:xfrm>
              <a:off x="123825"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26" name="Arc 97"/>
            <p:cNvSpPr/>
            <p:nvPr/>
          </p:nvSpPr>
          <p:spPr>
            <a:xfrm rot="10800000">
              <a:off x="1242883"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grpSp>
      <p:grpSp>
        <p:nvGrpSpPr>
          <p:cNvPr id="27" name="Group 98"/>
          <p:cNvGrpSpPr/>
          <p:nvPr/>
        </p:nvGrpSpPr>
        <p:grpSpPr>
          <a:xfrm rot="5075868">
            <a:off x="7662400" y="4839526"/>
            <a:ext cx="884588" cy="351676"/>
            <a:chOff x="123825" y="1279589"/>
            <a:chExt cx="3178838" cy="1194530"/>
          </a:xfrm>
        </p:grpSpPr>
        <p:sp>
          <p:nvSpPr>
            <p:cNvPr id="28" name="Oval 99"/>
            <p:cNvSpPr>
              <a:spLocks noChangeAspect="1"/>
            </p:cNvSpPr>
            <p:nvPr/>
          </p:nvSpPr>
          <p:spPr>
            <a:xfrm>
              <a:off x="1219199" y="1683974"/>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29" name="Oval 100"/>
            <p:cNvSpPr>
              <a:spLocks noChangeAspect="1"/>
            </p:cNvSpPr>
            <p:nvPr/>
          </p:nvSpPr>
          <p:spPr>
            <a:xfrm>
              <a:off x="1807367" y="1683973"/>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30" name="Arc 101"/>
            <p:cNvSpPr/>
            <p:nvPr/>
          </p:nvSpPr>
          <p:spPr>
            <a:xfrm>
              <a:off x="123825"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1" name="Arc 102"/>
            <p:cNvSpPr/>
            <p:nvPr/>
          </p:nvSpPr>
          <p:spPr>
            <a:xfrm rot="10800000">
              <a:off x="1242883"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grpSp>
        <p:nvGrpSpPr>
          <p:cNvPr id="32" name="Group 103"/>
          <p:cNvGrpSpPr/>
          <p:nvPr/>
        </p:nvGrpSpPr>
        <p:grpSpPr>
          <a:xfrm rot="10800000">
            <a:off x="6875772" y="5214532"/>
            <a:ext cx="884588" cy="351676"/>
            <a:chOff x="123825" y="1279589"/>
            <a:chExt cx="3178838" cy="1194530"/>
          </a:xfrm>
        </p:grpSpPr>
        <p:sp>
          <p:nvSpPr>
            <p:cNvPr id="33" name="Oval 104"/>
            <p:cNvSpPr>
              <a:spLocks noChangeAspect="1"/>
            </p:cNvSpPr>
            <p:nvPr/>
          </p:nvSpPr>
          <p:spPr>
            <a:xfrm>
              <a:off x="1219199" y="1683974"/>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34" name="Oval 105"/>
            <p:cNvSpPr>
              <a:spLocks noChangeAspect="1"/>
            </p:cNvSpPr>
            <p:nvPr/>
          </p:nvSpPr>
          <p:spPr>
            <a:xfrm>
              <a:off x="1807367" y="1683973"/>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schemeClr val="tx1"/>
                </a:solidFill>
                <a:latin typeface="微软雅黑" panose="020B0503020204020204" pitchFamily="34" charset="-122"/>
                <a:ea typeface="微软雅黑" panose="020B0503020204020204" pitchFamily="34" charset="-122"/>
              </a:endParaRPr>
            </a:p>
          </p:txBody>
        </p:sp>
        <p:sp>
          <p:nvSpPr>
            <p:cNvPr id="35" name="Arc 106"/>
            <p:cNvSpPr/>
            <p:nvPr/>
          </p:nvSpPr>
          <p:spPr>
            <a:xfrm>
              <a:off x="123825"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sp>
          <p:nvSpPr>
            <p:cNvPr id="36" name="Arc 107"/>
            <p:cNvSpPr/>
            <p:nvPr/>
          </p:nvSpPr>
          <p:spPr>
            <a:xfrm rot="10800000">
              <a:off x="1242883"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b="1" dirty="0">
                <a:latin typeface="微软雅黑" panose="020B0503020204020204" pitchFamily="34" charset="-122"/>
                <a:ea typeface="微软雅黑" panose="020B0503020204020204" pitchFamily="34" charset="-122"/>
              </a:endParaRPr>
            </a:p>
          </p:txBody>
        </p:sp>
      </p:grpSp>
      <p:grpSp>
        <p:nvGrpSpPr>
          <p:cNvPr id="37" name="Group 108"/>
          <p:cNvGrpSpPr/>
          <p:nvPr/>
        </p:nvGrpSpPr>
        <p:grpSpPr>
          <a:xfrm rot="9045885">
            <a:off x="6948619" y="4473843"/>
            <a:ext cx="884588" cy="351676"/>
            <a:chOff x="123825" y="1279589"/>
            <a:chExt cx="3178838" cy="1194530"/>
          </a:xfrm>
        </p:grpSpPr>
        <p:sp>
          <p:nvSpPr>
            <p:cNvPr id="38" name="Oval 109"/>
            <p:cNvSpPr>
              <a:spLocks noChangeAspect="1"/>
            </p:cNvSpPr>
            <p:nvPr/>
          </p:nvSpPr>
          <p:spPr>
            <a:xfrm>
              <a:off x="1219199" y="1683974"/>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39" name="Oval 110"/>
            <p:cNvSpPr>
              <a:spLocks noChangeAspect="1"/>
            </p:cNvSpPr>
            <p:nvPr/>
          </p:nvSpPr>
          <p:spPr>
            <a:xfrm>
              <a:off x="1807367" y="1683973"/>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40" name="Arc 111"/>
            <p:cNvSpPr/>
            <p:nvPr/>
          </p:nvSpPr>
          <p:spPr>
            <a:xfrm>
              <a:off x="123825"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41" name="Arc 112"/>
            <p:cNvSpPr/>
            <p:nvPr/>
          </p:nvSpPr>
          <p:spPr>
            <a:xfrm rot="10800000">
              <a:off x="1242883"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grpSp>
      <p:grpSp>
        <p:nvGrpSpPr>
          <p:cNvPr id="49" name="Group 113"/>
          <p:cNvGrpSpPr/>
          <p:nvPr/>
        </p:nvGrpSpPr>
        <p:grpSpPr>
          <a:xfrm rot="12223916">
            <a:off x="7179081" y="3347859"/>
            <a:ext cx="884588" cy="351676"/>
            <a:chOff x="123825" y="1279589"/>
            <a:chExt cx="3178838" cy="1194530"/>
          </a:xfrm>
        </p:grpSpPr>
        <p:sp>
          <p:nvSpPr>
            <p:cNvPr id="50" name="Oval 114"/>
            <p:cNvSpPr>
              <a:spLocks noChangeAspect="1"/>
            </p:cNvSpPr>
            <p:nvPr/>
          </p:nvSpPr>
          <p:spPr>
            <a:xfrm>
              <a:off x="1219199" y="1683974"/>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51" name="Oval 115"/>
            <p:cNvSpPr>
              <a:spLocks noChangeAspect="1"/>
            </p:cNvSpPr>
            <p:nvPr/>
          </p:nvSpPr>
          <p:spPr>
            <a:xfrm>
              <a:off x="1807367" y="1683973"/>
              <a:ext cx="385763" cy="385763"/>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53" name="Arc 116"/>
            <p:cNvSpPr/>
            <p:nvPr/>
          </p:nvSpPr>
          <p:spPr>
            <a:xfrm>
              <a:off x="123825"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54" name="Arc 117"/>
            <p:cNvSpPr/>
            <p:nvPr/>
          </p:nvSpPr>
          <p:spPr>
            <a:xfrm rot="10800000">
              <a:off x="1242883" y="1279589"/>
              <a:ext cx="2059780" cy="1194530"/>
            </a:xfrm>
            <a:prstGeom prst="arc">
              <a:avLst/>
            </a:prstGeom>
            <a:ln w="38100">
              <a:solidFill>
                <a:schemeClr val="accent2">
                  <a:lumMod val="40000"/>
                  <a:lumOff val="6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grpSp>
      <p:grpSp>
        <p:nvGrpSpPr>
          <p:cNvPr id="55" name="Group 118"/>
          <p:cNvGrpSpPr/>
          <p:nvPr/>
        </p:nvGrpSpPr>
        <p:grpSpPr>
          <a:xfrm rot="13975695">
            <a:off x="4123523" y="4541920"/>
            <a:ext cx="572101" cy="212925"/>
            <a:chOff x="123825" y="1279589"/>
            <a:chExt cx="3178838" cy="1194530"/>
          </a:xfrm>
        </p:grpSpPr>
        <p:sp>
          <p:nvSpPr>
            <p:cNvPr id="56" name="Oval 119"/>
            <p:cNvSpPr>
              <a:spLocks noChangeAspect="1"/>
            </p:cNvSpPr>
            <p:nvPr/>
          </p:nvSpPr>
          <p:spPr>
            <a:xfrm>
              <a:off x="1219199" y="1683974"/>
              <a:ext cx="385763" cy="385763"/>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58" name="Oval 120"/>
            <p:cNvSpPr>
              <a:spLocks noChangeAspect="1"/>
            </p:cNvSpPr>
            <p:nvPr/>
          </p:nvSpPr>
          <p:spPr>
            <a:xfrm>
              <a:off x="1807367" y="1683973"/>
              <a:ext cx="385763" cy="385763"/>
            </a:xfrm>
            <a:prstGeom prst="ellipse">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solidFill>
                  <a:schemeClr val="tx1"/>
                </a:solidFill>
                <a:latin typeface="微软雅黑" panose="020B0503020204020204" pitchFamily="34" charset="-122"/>
                <a:ea typeface="微软雅黑" panose="020B0503020204020204" pitchFamily="34" charset="-122"/>
              </a:endParaRPr>
            </a:p>
          </p:txBody>
        </p:sp>
        <p:sp>
          <p:nvSpPr>
            <p:cNvPr id="59" name="Arc 121"/>
            <p:cNvSpPr/>
            <p:nvPr/>
          </p:nvSpPr>
          <p:spPr>
            <a:xfrm>
              <a:off x="123825" y="1279589"/>
              <a:ext cx="2059780" cy="1194530"/>
            </a:xfrm>
            <a:prstGeom prst="arc">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sp>
          <p:nvSpPr>
            <p:cNvPr id="71" name="Arc 122"/>
            <p:cNvSpPr/>
            <p:nvPr/>
          </p:nvSpPr>
          <p:spPr>
            <a:xfrm rot="10800000">
              <a:off x="1242883" y="1279589"/>
              <a:ext cx="2059780" cy="1194530"/>
            </a:xfrm>
            <a:prstGeom prst="arc">
              <a:avLst/>
            </a:prstGeom>
            <a:ln w="2540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600" b="1" dirty="0">
                <a:latin typeface="微软雅黑" panose="020B0503020204020204" pitchFamily="34" charset="-122"/>
                <a:ea typeface="微软雅黑" panose="020B0503020204020204" pitchFamily="34" charset="-122"/>
              </a:endParaRPr>
            </a:p>
          </p:txBody>
        </p:sp>
      </p:grpSp>
      <p:sp>
        <p:nvSpPr>
          <p:cNvPr id="73" name="TextBox 125"/>
          <p:cNvSpPr txBox="1"/>
          <p:nvPr/>
        </p:nvSpPr>
        <p:spPr>
          <a:xfrm>
            <a:off x="6457909" y="3405719"/>
            <a:ext cx="1065948" cy="338554"/>
          </a:xfrm>
          <a:prstGeom prst="rect">
            <a:avLst/>
          </a:prstGeom>
          <a:noFill/>
        </p:spPr>
        <p:txBody>
          <a:bodyPr wrap="square" rtlCol="0">
            <a:spAutoFit/>
          </a:bodyPr>
          <a:lstStyle/>
          <a:p>
            <a:r>
              <a:rPr lang="zh-CN" altLang="en-US" sz="1600" b="1" dirty="0">
                <a:latin typeface="微软雅黑" panose="020B0503020204020204" pitchFamily="34" charset="-122"/>
                <a:ea typeface="微软雅黑" panose="020B0503020204020204" pitchFamily="34" charset="-122"/>
              </a:rPr>
              <a:t>双白矮星</a:t>
            </a:r>
          </a:p>
        </p:txBody>
      </p:sp>
      <p:sp>
        <p:nvSpPr>
          <p:cNvPr id="74" name="Circle: Hollow 126"/>
          <p:cNvSpPr/>
          <p:nvPr/>
        </p:nvSpPr>
        <p:spPr>
          <a:xfrm rot="4362634">
            <a:off x="4007467" y="4362594"/>
            <a:ext cx="838653" cy="586823"/>
          </a:xfrm>
          <a:prstGeom prst="donu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solidFill>
                <a:schemeClr val="tx1"/>
              </a:solidFill>
              <a:latin typeface="微软雅黑" panose="020B0503020204020204" pitchFamily="34" charset="-122"/>
              <a:ea typeface="微软雅黑" panose="020B0503020204020204" pitchFamily="34" charset="-122"/>
            </a:endParaRPr>
          </a:p>
        </p:txBody>
      </p:sp>
      <p:sp>
        <p:nvSpPr>
          <p:cNvPr id="75" name="TextBox 200"/>
          <p:cNvSpPr txBox="1"/>
          <p:nvPr/>
        </p:nvSpPr>
        <p:spPr>
          <a:xfrm>
            <a:off x="5393529" y="4068932"/>
            <a:ext cx="828320" cy="338554"/>
          </a:xfrm>
          <a:prstGeom prst="rect">
            <a:avLst/>
          </a:prstGeom>
          <a:noFill/>
        </p:spPr>
        <p:txBody>
          <a:bodyPr wrap="square" rtlCol="0">
            <a:spAutoFit/>
          </a:bodyPr>
          <a:lstStyle/>
          <a:p>
            <a:r>
              <a:rPr lang="zh-CN" altLang="en-US" sz="1600" b="1" dirty="0">
                <a:solidFill>
                  <a:srgbClr val="FF0000"/>
                </a:solidFill>
                <a:latin typeface="微软雅黑" panose="020B0503020204020204" pitchFamily="34" charset="-122"/>
                <a:ea typeface="微软雅黑" panose="020B0503020204020204" pitchFamily="34" charset="-122"/>
              </a:rPr>
              <a:t>引力波</a:t>
            </a:r>
          </a:p>
        </p:txBody>
      </p:sp>
      <p:sp>
        <p:nvSpPr>
          <p:cNvPr id="76" name="TextBox 202"/>
          <p:cNvSpPr txBox="1"/>
          <p:nvPr/>
        </p:nvSpPr>
        <p:spPr>
          <a:xfrm>
            <a:off x="6859513" y="2592841"/>
            <a:ext cx="946360"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银河系</a:t>
            </a:r>
          </a:p>
        </p:txBody>
      </p:sp>
      <p:pic>
        <p:nvPicPr>
          <p:cNvPr id="77" name="Graphic 123"/>
          <p:cNvPicPr>
            <a:picLocks noChangeAspect="1"/>
          </p:cNvPicPr>
          <p:nvPr/>
        </p:nvPicPr>
        <p:blipFill rotWithShape="1">
          <a:blip r:embed="rId4" cstate="print">
            <a:lum bright="-1000"/>
            <a:extLst>
              <a:ext uri="{28A0092B-C50C-407E-A947-70E740481C1C}">
                <a14:useLocalDpi xmlns:a14="http://schemas.microsoft.com/office/drawing/2010/main" val="0"/>
              </a:ext>
            </a:extLst>
          </a:blip>
          <a:srcRect b="77817"/>
          <a:stretch>
            <a:fillRect/>
          </a:stretch>
        </p:blipFill>
        <p:spPr>
          <a:xfrm>
            <a:off x="4717384" y="4202822"/>
            <a:ext cx="3481254" cy="540000"/>
          </a:xfrm>
          <a:prstGeom prst="rect">
            <a:avLst/>
          </a:prstGeom>
          <a:ln>
            <a:noFill/>
          </a:ln>
        </p:spPr>
      </p:pic>
      <p:pic>
        <p:nvPicPr>
          <p:cNvPr id="80" name="图片 79"/>
          <p:cNvPicPr>
            <a:picLocks noChangeAspect="1"/>
          </p:cNvPicPr>
          <p:nvPr/>
        </p:nvPicPr>
        <p:blipFill rotWithShape="1">
          <a:blip r:embed="rId5">
            <a:extLst>
              <a:ext uri="{28A0092B-C50C-407E-A947-70E740481C1C}">
                <a14:useLocalDpi xmlns:a14="http://schemas.microsoft.com/office/drawing/2010/main" val="0"/>
              </a:ext>
            </a:extLst>
          </a:blip>
          <a:srcRect l="9330" r="8280"/>
          <a:stretch>
            <a:fillRect/>
          </a:stretch>
        </p:blipFill>
        <p:spPr>
          <a:xfrm rot="10800000">
            <a:off x="8688288" y="2954213"/>
            <a:ext cx="1968002" cy="3280139"/>
          </a:xfrm>
          <a:prstGeom prst="rect">
            <a:avLst/>
          </a:prstGeom>
        </p:spPr>
      </p:pic>
      <p:cxnSp>
        <p:nvCxnSpPr>
          <p:cNvPr id="82" name="Straight Connector 16"/>
          <p:cNvCxnSpPr/>
          <p:nvPr/>
        </p:nvCxnSpPr>
        <p:spPr>
          <a:xfrm flipV="1">
            <a:off x="7876699" y="2977248"/>
            <a:ext cx="805375" cy="1034238"/>
          </a:xfrm>
          <a:prstGeom prst="line">
            <a:avLst/>
          </a:prstGeom>
          <a:ln>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4" name="Straight Connector 17"/>
          <p:cNvCxnSpPr/>
          <p:nvPr/>
        </p:nvCxnSpPr>
        <p:spPr>
          <a:xfrm>
            <a:off x="7839989" y="4341449"/>
            <a:ext cx="847102" cy="1885651"/>
          </a:xfrm>
          <a:prstGeom prst="line">
            <a:avLst/>
          </a:prstGeom>
          <a:ln>
            <a:solidFill>
              <a:schemeClr val="tx1">
                <a:lumMod val="75000"/>
                <a:lumOff val="25000"/>
              </a:schemeClr>
            </a:solidFill>
            <a:prstDash val="dash"/>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8723138" y="5813121"/>
            <a:ext cx="1524777" cy="369332"/>
          </a:xfrm>
          <a:prstGeom prst="rect">
            <a:avLst/>
          </a:prstGeom>
        </p:spPr>
        <p:txBody>
          <a:bodyPr wrap="none">
            <a:spAutoFit/>
          </a:bodyPr>
          <a:lstStyle/>
          <a:p>
            <a:pPr algn="ctr"/>
            <a:r>
              <a:rPr lang="en-US" altLang="zh-CN" dirty="0">
                <a:solidFill>
                  <a:schemeClr val="bg1"/>
                </a:solidFill>
                <a:latin typeface="微软雅黑" panose="020B0503020204020204" pitchFamily="34" charset="-122"/>
                <a:ea typeface="微软雅黑" panose="020B0503020204020204" pitchFamily="34" charset="-122"/>
              </a:rPr>
              <a:t>J</a:t>
            </a:r>
            <a:r>
              <a:rPr lang="zh-CN" altLang="en-US" dirty="0">
                <a:solidFill>
                  <a:schemeClr val="bg1"/>
                </a:solidFill>
                <a:latin typeface="微软雅黑" panose="020B0503020204020204" pitchFamily="34" charset="-122"/>
                <a:ea typeface="微软雅黑" panose="020B0503020204020204" pitchFamily="34" charset="-122"/>
              </a:rPr>
              <a:t>2322+0509</a:t>
            </a:r>
          </a:p>
        </p:txBody>
      </p:sp>
      <p:sp>
        <p:nvSpPr>
          <p:cNvPr id="97" name="矩形 96"/>
          <p:cNvSpPr/>
          <p:nvPr/>
        </p:nvSpPr>
        <p:spPr bwMode="auto">
          <a:xfrm>
            <a:off x="1513487" y="2517516"/>
            <a:ext cx="9144000" cy="426797"/>
          </a:xfrm>
          <a:prstGeom prst="rect">
            <a:avLst/>
          </a:prstGeom>
          <a:solidFill>
            <a:srgbClr val="3366FF"/>
          </a:solidFill>
          <a:ln w="9525" cap="flat" cmpd="sng" algn="ctr">
            <a:noFill/>
            <a:prstDash val="solid"/>
            <a:round/>
            <a:headEnd type="none" w="med" len="med"/>
            <a:tailEnd type="none" w="med" len="med"/>
          </a:ln>
          <a:effectLst>
            <a:outerShdw dist="17961" dir="2700000" algn="ctr" rotWithShape="0">
              <a:srgbClr val="00CCFF">
                <a:gamma/>
                <a:shade val="60000"/>
                <a:invGamma/>
              </a:srgbClr>
            </a:outerShdw>
          </a:effectLst>
        </p:spPr>
        <p:txBody>
          <a:bodyPr vert="horz" wrap="square" lIns="91440" tIns="45720" rIns="91440" bIns="45720" numCol="1" rtlCol="0" anchor="ctr" anchorCtr="0" compatLnSpc="1"/>
          <a:lstStyle/>
          <a:p>
            <a:pPr algn="ctr" fontAlgn="base">
              <a:spcBef>
                <a:spcPct val="0"/>
              </a:spcBef>
              <a:spcAft>
                <a:spcPct val="0"/>
              </a:spcAft>
            </a:pPr>
            <a:endParaRPr lang="zh-CN" altLang="en-US" sz="1600">
              <a:latin typeface="Tw Cen MT" panose="020B0602020104020603" pitchFamily="34" charset="0"/>
              <a:ea typeface="宋体" panose="02010600030101010101" pitchFamily="2" charset="-122"/>
              <a:sym typeface="Tw Cen MT" panose="020B0602020104020603" pitchFamily="34" charset="0"/>
            </a:endParaRPr>
          </a:p>
        </p:txBody>
      </p:sp>
      <p:sp>
        <p:nvSpPr>
          <p:cNvPr id="103" name="Rectangle 12"/>
          <p:cNvSpPr/>
          <p:nvPr/>
        </p:nvSpPr>
        <p:spPr>
          <a:xfrm>
            <a:off x="2648328" y="2530618"/>
            <a:ext cx="2492990" cy="369332"/>
          </a:xfrm>
          <a:prstGeom prst="rect">
            <a:avLst/>
          </a:prstGeom>
        </p:spPr>
        <p:txBody>
          <a:bodyPr wrap="none">
            <a:spAutoFit/>
          </a:bodyPr>
          <a:lstStyle/>
          <a:p>
            <a:r>
              <a:rPr lang="zh-CN" altLang="en-US" b="1" dirty="0">
                <a:solidFill>
                  <a:schemeClr val="bg1"/>
                </a:solidFill>
                <a:latin typeface="微软雅黑" panose="020B0503020204020204" pitchFamily="34" charset="-122"/>
                <a:ea typeface="微软雅黑" panose="020B0503020204020204" pitchFamily="34" charset="-122"/>
              </a:rPr>
              <a:t>引力波源环境干扰信号</a:t>
            </a:r>
          </a:p>
        </p:txBody>
      </p:sp>
      <p:sp>
        <p:nvSpPr>
          <p:cNvPr id="105" name="Rectangle 22"/>
          <p:cNvSpPr/>
          <p:nvPr/>
        </p:nvSpPr>
        <p:spPr>
          <a:xfrm>
            <a:off x="7718212" y="2530618"/>
            <a:ext cx="1338828" cy="369332"/>
          </a:xfrm>
          <a:prstGeom prst="rect">
            <a:avLst/>
          </a:prstGeom>
        </p:spPr>
        <p:txBody>
          <a:bodyPr wrap="none">
            <a:spAutoFit/>
          </a:bodyPr>
          <a:lstStyle/>
          <a:p>
            <a:r>
              <a:rPr lang="zh-CN" altLang="en-US" b="1" dirty="0">
                <a:solidFill>
                  <a:schemeClr val="bg1"/>
                </a:solidFill>
                <a:latin typeface="微软雅黑" panose="020B0503020204020204" pitchFamily="34" charset="-122"/>
                <a:ea typeface="微软雅黑" panose="020B0503020204020204" pitchFamily="34" charset="-122"/>
              </a:rPr>
              <a:t>引力波前景</a:t>
            </a:r>
          </a:p>
        </p:txBody>
      </p:sp>
      <p:cxnSp>
        <p:nvCxnSpPr>
          <p:cNvPr id="107" name="直接连接符 106"/>
          <p:cNvCxnSpPr>
            <a:stCxn id="97" idx="0"/>
            <a:endCxn id="97" idx="2"/>
          </p:cNvCxnSpPr>
          <p:nvPr/>
        </p:nvCxnSpPr>
        <p:spPr bwMode="auto">
          <a:xfrm>
            <a:off x="6085487" y="2517516"/>
            <a:ext cx="0" cy="426797"/>
          </a:xfrm>
          <a:prstGeom prst="line">
            <a:avLst/>
          </a:prstGeom>
          <a:solidFill>
            <a:srgbClr val="00CCFF"/>
          </a:solidFill>
          <a:ln w="28575" cap="flat" cmpd="sng" algn="ctr">
            <a:solidFill>
              <a:schemeClr val="accent1">
                <a:shade val="50000"/>
              </a:schemeClr>
            </a:solidFill>
            <a:prstDash val="solid"/>
            <a:round/>
            <a:headEnd type="none" w="med" len="med"/>
            <a:tailEnd type="none" w="med" len="med"/>
          </a:ln>
          <a:effectLst>
            <a:outerShdw dist="17961" dir="2700000" algn="ctr" rotWithShape="0">
              <a:srgbClr val="00CCFF">
                <a:gamma/>
                <a:shade val="60000"/>
                <a:invGamma/>
              </a:srgbClr>
            </a:outerShdw>
          </a:effectLst>
        </p:spPr>
      </p:cxnSp>
      <p:sp>
        <p:nvSpPr>
          <p:cNvPr id="60" name="Rectangle 12"/>
          <p:cNvSpPr>
            <a:spLocks noChangeArrowheads="1"/>
          </p:cNvSpPr>
          <p:nvPr/>
        </p:nvSpPr>
        <p:spPr bwMode="auto">
          <a:xfrm>
            <a:off x="1560513" y="224155"/>
            <a:ext cx="8964612" cy="491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ea typeface="黑体" panose="02010609060101010101" pitchFamily="49" charset="-122"/>
              </a:defRPr>
            </a:lvl1pPr>
            <a:lvl2pPr marL="742950" indent="-285750">
              <a:spcBef>
                <a:spcPct val="20000"/>
              </a:spcBef>
              <a:buChar char="–"/>
              <a:defRPr sz="2800">
                <a:solidFill>
                  <a:schemeClr val="tx1"/>
                </a:solidFill>
                <a:latin typeface="Arial" panose="020B0604020202020204" pitchFamily="34" charset="0"/>
                <a:ea typeface="黑体" panose="02010609060101010101" pitchFamily="49" charset="-122"/>
              </a:defRPr>
            </a:lvl2pPr>
            <a:lvl3pPr marL="1143000" indent="-228600">
              <a:spcBef>
                <a:spcPct val="20000"/>
              </a:spcBef>
              <a:buChar char="•"/>
              <a:defRPr sz="2400">
                <a:solidFill>
                  <a:schemeClr val="tx1"/>
                </a:solidFill>
                <a:latin typeface="Arial" panose="020B0604020202020204" pitchFamily="34" charset="0"/>
                <a:ea typeface="黑体" panose="02010609060101010101" pitchFamily="49" charset="-122"/>
              </a:defRPr>
            </a:lvl3pPr>
            <a:lvl4pPr marL="1600200" indent="-228600">
              <a:spcBef>
                <a:spcPct val="20000"/>
              </a:spcBef>
              <a:buChar char="–"/>
              <a:defRPr sz="2000">
                <a:solidFill>
                  <a:schemeClr val="tx1"/>
                </a:solidFill>
                <a:latin typeface="Arial" panose="020B0604020202020204" pitchFamily="34" charset="0"/>
                <a:ea typeface="黑体" panose="02010609060101010101" pitchFamily="49" charset="-122"/>
              </a:defRPr>
            </a:lvl4pPr>
            <a:lvl5pPr marL="2057400" indent="-228600">
              <a:spcBef>
                <a:spcPct val="20000"/>
              </a:spcBef>
              <a:buChar char="»"/>
              <a:defRPr sz="2000">
                <a:solidFill>
                  <a:schemeClr val="tx1"/>
                </a:solidFill>
                <a:latin typeface="Arial" panose="020B0604020202020204" pitchFamily="34" charset="0"/>
                <a:ea typeface="黑体" panose="02010609060101010101" pitchFamily="49"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黑体" panose="02010609060101010101" pitchFamily="49" charset="-122"/>
              </a:defRPr>
            </a:lvl9pPr>
          </a:lstStyle>
          <a:p>
            <a:pPr eaLnBrk="1" hangingPunct="1">
              <a:spcBef>
                <a:spcPct val="0"/>
              </a:spcBef>
              <a:buFontTx/>
              <a:buNone/>
            </a:pPr>
            <a:r>
              <a:rPr lang="zh-CN" altLang="en-US" sz="2600" b="1" dirty="0">
                <a:latin typeface="Calibri" panose="020F0502020204030204" pitchFamily="34" charset="0"/>
                <a:ea typeface="微软雅黑" panose="020B0503020204020204" pitchFamily="34" charset="-122"/>
                <a:sym typeface="+mn-ea"/>
              </a:rPr>
              <a:t>技术路</a:t>
            </a:r>
            <a:r>
              <a:rPr lang="zh-CN" altLang="en-US" sz="2600" b="1" dirty="0">
                <a:latin typeface="Times New Roman" panose="02020603050405020304" pitchFamily="18" charset="0"/>
                <a:ea typeface="微软雅黑" panose="020B0503020204020204" pitchFamily="34" charset="-122"/>
                <a:cs typeface="Times New Roman" panose="02020603050405020304" pitchFamily="18" charset="0"/>
                <a:sym typeface="+mn-ea"/>
              </a:rPr>
              <a:t>线</a:t>
            </a:r>
            <a:r>
              <a:rPr lang="en-US" altLang="zh-CN" sz="2600" b="1" dirty="0">
                <a:latin typeface="Times New Roman" panose="02020603050405020304" pitchFamily="18" charset="0"/>
                <a:ea typeface="微软雅黑" panose="020B0503020204020204" pitchFamily="34" charset="-122"/>
                <a:cs typeface="Times New Roman" panose="02020603050405020304" pitchFamily="18" charset="0"/>
                <a:sym typeface="+mn-ea"/>
              </a:rPr>
              <a:t>6——</a:t>
            </a:r>
            <a:r>
              <a:rPr lang="zh-CN" altLang="en-US" sz="2600" b="1" dirty="0">
                <a:latin typeface="Calibri" panose="020F0502020204030204" pitchFamily="34" charset="0"/>
                <a:ea typeface="微软雅黑" panose="020B0503020204020204" pitchFamily="34" charset="-122"/>
                <a:sym typeface="+mn-ea"/>
              </a:rPr>
              <a:t>引力波前景和波源附近环境干扰</a:t>
            </a:r>
            <a:endParaRPr lang="zh-CN" altLang="en-US" sz="2600" b="1" dirty="0">
              <a:latin typeface="Times New Roman" panose="02020603050405020304" pitchFamily="18" charset="0"/>
              <a:ea typeface="微软雅黑" panose="020B0503020204020204" pitchFamily="34" charset="-122"/>
              <a:cs typeface="Times New Roman" panose="02020603050405020304" pitchFamily="18" charset="0"/>
              <a:sym typeface="+mn-ea"/>
            </a:endParaRPr>
          </a:p>
        </p:txBody>
      </p:sp>
    </p:spTree>
    <p:extLst>
      <p:ext uri="{BB962C8B-B14F-4D97-AF65-F5344CB8AC3E}">
        <p14:creationId xmlns:p14="http://schemas.microsoft.com/office/powerpoint/2010/main" val="4074552948"/>
      </p:ext>
    </p:extLst>
  </p:cSld>
  <p:clrMapOvr>
    <a:masterClrMapping/>
  </p:clrMapOvr>
  <mc:AlternateContent xmlns:mc="http://schemas.openxmlformats.org/markup-compatibility/2006">
    <mc:Choice xmlns:p14="http://schemas.microsoft.com/office/powerpoint/2010/main" Requires="p14">
      <p:transition spd="slow" p14:dur="2000" advTm="20203"/>
    </mc:Choice>
    <mc:Fallback>
      <p:transition spd="slow" advTm="20203"/>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146</Words>
  <Application>Microsoft Office PowerPoint</Application>
  <PresentationFormat>宽屏</PresentationFormat>
  <Paragraphs>20</Paragraphs>
  <Slides>3</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Tw Cen MT</vt:lpstr>
      <vt:lpstr>宋体</vt:lpstr>
      <vt:lpstr>微软雅黑</vt:lpstr>
      <vt:lpstr>Arial</vt:lpstr>
      <vt:lpstr>Calibri</vt:lpstr>
      <vt:lpstr>Calibri Light</vt:lpstr>
      <vt:lpstr>Times New Roman</vt:lpstr>
      <vt:lpstr>Office 主题</vt:lpstr>
      <vt:lpstr>PowerPoint 演示文稿</vt:lpstr>
      <vt:lpstr>PowerPoint 演示文稿</vt:lpstr>
      <vt:lpstr>PowerPoint 演示文稿</vt:lpstr>
    </vt:vector>
  </TitlesOfParts>
  <Company>P R C</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1</cp:revision>
  <dcterms:created xsi:type="dcterms:W3CDTF">2025-03-19T07:21:47Z</dcterms:created>
  <dcterms:modified xsi:type="dcterms:W3CDTF">2025-03-19T07:27:08Z</dcterms:modified>
</cp:coreProperties>
</file>